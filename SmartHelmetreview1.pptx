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Play" panose="0000050000000000000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595168-4C4C-43EB-BE5E-3DC3DE7DAA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972a0253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g39b972a025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972a0253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g39b972a0253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b972a0253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g39b972a0253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972a0253_1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g39b972a0253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972a0253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g39b972a0253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b972a0253_1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g39b972a0253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jpeg"/><Relationship Id="rId3" Type="http://schemas.openxmlformats.org/officeDocument/2006/relationships/hyperlink" Target="https://github.com/witnessmenow/Universal-Arduino-Telegram-Bot" TargetMode="External"/><Relationship Id="rId2" Type="http://schemas.openxmlformats.org/officeDocument/2006/relationships/hyperlink" Target="https://github.com/mikalhart/TinyGPSPlus" TargetMode="External"/><Relationship Id="rId1" Type="http://schemas.openxmlformats.org/officeDocument/2006/relationships/hyperlink" Target="https://github.com/jrowberg/i2cdevli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3179245"/>
            <a:ext cx="9144000" cy="111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 panose="00000500000000000000"/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Smart Helmet for Accident Detection and Safety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4000" y="464597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Group 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Members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Navaneeth Yadav        22BTDS119 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S Shalini                      22BTDS174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Thanushree N S           22BTDS155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Anushree V  S           22BTDS145</a:t>
            </a:r>
            <a:endParaRPr dirty="0"/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667000" y="228600"/>
            <a:ext cx="6477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2"/>
          <a:srcRect l="13056" r="6413"/>
          <a:stretch>
            <a:fillRect/>
          </a:stretch>
        </p:blipFill>
        <p:spPr>
          <a:xfrm>
            <a:off x="914400" y="1611967"/>
            <a:ext cx="10134600" cy="138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Problem Statement 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8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0" indent="-457200" algn="ctr">
              <a:spcBef>
                <a:spcPts val="1200"/>
              </a:spcBef>
              <a:buSzPts val="2800"/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635000" lvl="0" indent="-457200" algn="ctr">
              <a:spcBef>
                <a:spcPts val="1200"/>
              </a:spcBef>
              <a:buSzPts val="28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635000" lvl="0" indent="-457200" algn="l">
              <a:spcBef>
                <a:spcPts val="120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charset="0"/>
                <a:cs typeface="Times New Roman" panose="02020603050405020304" charset="0"/>
              </a:rPr>
              <a:t>Two-wheeler 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riders are highly vulnerable to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road accidents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, and conventional helmets only provide basic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physical protection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. There is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no integrated system 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that can prevent drunk driving, detect accidents in real-time, track the rider’s live location, and automatically send emergency alerts to family </a:t>
            </a:r>
            <a:r>
              <a:rPr lang="en-US" sz="2400" dirty="0" smtClean="0"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This lack of smart safety features results in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delayed medical assistance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, increased injury severity, and a higher risk of fatalities. Therefore, there is a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need for an </a:t>
            </a:r>
            <a:r>
              <a:rPr lang="en-US" sz="2400" b="1" dirty="0" err="1">
                <a:latin typeface="Times New Roman" panose="02020603050405020304" charset="0"/>
                <a:cs typeface="Times New Roman" panose="02020603050405020304" charset="0"/>
              </a:rPr>
              <a:t>IoT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-based Smart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Helmet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 that enhances rider safety through alcohol detection, accident sensing, GPS tracking, and automated emergency communication</a:t>
            </a:r>
            <a:endParaRPr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8" name="Google Shape;98;p14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Literature Survey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8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Many research works focus on accident detection using MPU6050 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sensors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, but most only send data to serial monitor or app.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    some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systems use GSM modules to send SMS after an accident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,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   but lack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alcohol detection or ignition control.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    GPS-based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tracking systems exist, but they do not prevent 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   accidents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or control the vehicle.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61595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Few smart helmets include alcohol sensing but do not send live location or manage vehicle ignition.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61595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Most available systems are expensive or provide only a single feature rather than a complete safety solution.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7" name="Google Shape;107;p15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Literature </a:t>
            </a:r>
            <a:r>
              <a:rPr lang="en-US" b="1" dirty="0" smtClean="0">
                <a:latin typeface="Times New Roman" panose="02020603050405020304" charset="0"/>
                <a:cs typeface="Times New Roman" panose="02020603050405020304" charset="0"/>
              </a:rPr>
              <a:t>Survey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700" cy="5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 smtClean="0"/>
              <a:t>   </a:t>
            </a:r>
            <a:endParaRPr lang="en-US" sz="2000" dirty="0" smtClean="0"/>
          </a:p>
          <a:p>
            <a:pPr marL="342900" algn="l">
              <a:lnSpc>
                <a:spcPct val="115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Accident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detection systems using only accelerometers or gyroscopes 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often</a:t>
            </a:r>
            <a:endParaRPr 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sz="2000" b="1" dirty="0" smtClean="0">
                <a:latin typeface="Times New Roman" panose="02020603050405020304" charset="0"/>
                <a:cs typeface="Times New Roman" panose="02020603050405020304" charset="0"/>
              </a:rPr>
              <a:t>fail 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to differentiate </a:t>
            </a:r>
            <a:r>
              <a:rPr lang="en-US" sz="2000" b="1" dirty="0" smtClean="0">
                <a:latin typeface="Times New Roman" panose="02020603050405020304" charset="0"/>
                <a:cs typeface="Times New Roman" panose="02020603050405020304" charset="0"/>
              </a:rPr>
              <a:t> between 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minor bumps and serious </a:t>
            </a:r>
            <a:r>
              <a:rPr lang="en-US" sz="2000" b="1" dirty="0" smtClean="0">
                <a:latin typeface="Times New Roman" panose="02020603050405020304" charset="0"/>
                <a:cs typeface="Times New Roman" panose="02020603050405020304" charset="0"/>
              </a:rPr>
              <a:t>crashes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   This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leads to false alerts or missed emergencies.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algn="l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Many </a:t>
            </a:r>
            <a:r>
              <a:rPr lang="en-US" sz="2000" dirty="0" err="1">
                <a:latin typeface="Times New Roman" panose="02020603050405020304" charset="0"/>
                <a:cs typeface="Times New Roman" panose="02020603050405020304" charset="0"/>
              </a:rPr>
              <a:t>IoT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-based alert systems 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depend on GSM or mobile </a:t>
            </a:r>
            <a:r>
              <a:rPr lang="en-US" sz="2000" b="1" dirty="0" err="1" smtClean="0">
                <a:latin typeface="Times New Roman" panose="02020603050405020304" charset="0"/>
                <a:cs typeface="Times New Roman" panose="02020603050405020304" charset="0"/>
              </a:rPr>
              <a:t>networks</a:t>
            </a:r>
            <a:r>
              <a:rPr 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,which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can be 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     unreliable in  remote areas.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algn="l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 Some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do not provide real-time GPS tracking or automatic emergency messages.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algn="l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 Existing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solutions rarely 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integrate all safety features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—alcohol detection, 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2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      accident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sensing, 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GPS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tracking, and vehicle control—into one affordable device</a:t>
            </a: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imes New Roman" panose="02020603050405020304" charset="0"/>
                <a:cs typeface="Times New Roman" panose="02020603050405020304" charset="0"/>
              </a:rPr>
              <a:t>      This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limits practical implementation for everyday riders.</a:t>
            </a: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16" name="Google Shape;116;p16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Methodology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4" name="Google Shape;124;p17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8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US" sz="1950" b="1">
                <a:latin typeface="Times New Roman" panose="02020603050405020304" charset="0"/>
                <a:cs typeface="Times New Roman" panose="02020603050405020304" charset="0"/>
              </a:rPr>
              <a:t>System Overview:</a:t>
            </a:r>
            <a:endParaRPr sz="195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50"/>
              <a:buChar char="●"/>
            </a:pP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The smart helmet integrates </a:t>
            </a:r>
            <a:r>
              <a:rPr lang="en-US" sz="1950" b="1">
                <a:latin typeface="Times New Roman" panose="02020603050405020304" charset="0"/>
                <a:cs typeface="Times New Roman" panose="02020603050405020304" charset="0"/>
              </a:rPr>
              <a:t>sensors, microcontroller, and communication systems</a:t>
            </a: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 to prevent accidents and alert emergencies.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 b="1">
                <a:latin typeface="Times New Roman" panose="02020603050405020304" charset="0"/>
                <a:cs typeface="Times New Roman" panose="02020603050405020304" charset="0"/>
              </a:rPr>
              <a:t>Input Devices:</a:t>
            </a: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 MQ3 Alcohol Sensor, MPU6050 Accelerometer + Gyroscope, GPS Module, Push Button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 b="1">
                <a:latin typeface="Times New Roman" panose="02020603050405020304" charset="0"/>
                <a:cs typeface="Times New Roman" panose="02020603050405020304" charset="0"/>
              </a:rPr>
              <a:t>Processing Unit:</a:t>
            </a: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 ESP32 Microcontroller processes sensor data and makes real-time decisions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 b="1">
                <a:latin typeface="Times New Roman" panose="02020603050405020304" charset="0"/>
                <a:cs typeface="Times New Roman" panose="02020603050405020304" charset="0"/>
              </a:rPr>
              <a:t>Outputs:</a:t>
            </a: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 L298N Motor Driver (ignition control), Buzzer, LED, Telegram alerts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US" sz="1950" b="1">
                <a:latin typeface="Times New Roman" panose="02020603050405020304" charset="0"/>
                <a:cs typeface="Times New Roman" panose="02020603050405020304" charset="0"/>
              </a:rPr>
              <a:t>Flow of Operation:</a:t>
            </a:r>
            <a:endParaRPr sz="185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50"/>
              <a:buAutoNum type="arabicPeriod"/>
            </a:pP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Rider wears helmet and starts journey.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AutoNum type="arabicPeriod"/>
            </a:pP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Alcohol sensor checks rider’s sobriety → ignition allowed if safe.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AutoNum type="arabicPeriod"/>
            </a:pP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MPU6050 detects sudden shocks/fall → accident detection.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AutoNum type="arabicPeriod"/>
            </a:pP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GPS tracks live location continuously.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AutoNum type="arabicPeriod"/>
            </a:pP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ESP32 triggers buzzer/LED and sends Telegram alert if accident occurs.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24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50"/>
              <a:buAutoNum type="arabicPeriod"/>
            </a:pPr>
            <a:r>
              <a:rPr lang="en-US" sz="1950">
                <a:latin typeface="Times New Roman" panose="02020603050405020304" charset="0"/>
                <a:cs typeface="Times New Roman" panose="02020603050405020304" charset="0"/>
              </a:rPr>
              <a:t>Push button allows manual start/stop as override.</a:t>
            </a:r>
            <a:endParaRPr sz="195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5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5" name="Google Shape;125;p17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 smtClean="0">
                <a:latin typeface="Times New Roman" panose="02020603050405020304" charset="0"/>
                <a:cs typeface="Times New Roman" panose="02020603050405020304" charset="0"/>
              </a:rPr>
              <a:t>Block diagram Image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700" cy="5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endParaRPr sz="500" dirty="0"/>
          </a:p>
        </p:txBody>
      </p:sp>
      <p:pic>
        <p:nvPicPr>
          <p:cNvPr id="134" name="Google Shape;134;p18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033" y="1323470"/>
            <a:ext cx="6340943" cy="46269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8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v"/>
            </a:pPr>
            <a:endParaRPr lang="en-US" sz="2400" dirty="0" smtClean="0"/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charset="0"/>
                <a:cs typeface="Times New Roman" panose="02020603050405020304" charset="0"/>
              </a:rPr>
              <a:t>Alcohol </a:t>
            </a:r>
            <a:r>
              <a:rPr lang="en-US" sz="2400" dirty="0">
                <a:latin typeface="Times New Roman" panose="02020603050405020304" charset="0"/>
                <a:cs typeface="Times New Roman" panose="02020603050405020304" charset="0"/>
              </a:rPr>
              <a:t>Detection Results</a:t>
            </a: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4" name="Google Shape;144;p19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46" name="Google Shape;14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aphicFrame>
        <p:nvGraphicFramePr>
          <p:cNvPr id="147" name="Google Shape;147;p19"/>
          <p:cNvGraphicFramePr/>
          <p:nvPr/>
        </p:nvGraphicFramePr>
        <p:xfrm>
          <a:off x="952500" y="2667000"/>
          <a:ext cx="10287000" cy="1584840"/>
        </p:xfrm>
        <a:graphic>
          <a:graphicData uri="http://schemas.openxmlformats.org/drawingml/2006/table">
            <a:tbl>
              <a:tblPr>
                <a:noFill/>
                <a:tableStyleId>{F8595168-4C4C-43EB-BE5E-3DC3DE7DAA6C}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Alcohol Level (ppm)</a:t>
                      </a:r>
                      <a:endParaRPr lang="en-US" sz="11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Ignition Status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Observation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0–50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ON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Safe to ride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51–100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OFF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Ignition blocked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&gt;100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OFF + Alert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High alcohol, alert sent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3" name="Google Shape;153;p20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700" cy="5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Accident Detection Results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4" name="Google Shape;154;p20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56" name="Google Shape;15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aphicFrame>
        <p:nvGraphicFramePr>
          <p:cNvPr id="157" name="Google Shape;157;p20"/>
          <p:cNvGraphicFramePr/>
          <p:nvPr/>
        </p:nvGraphicFramePr>
        <p:xfrm>
          <a:off x="952500" y="2667000"/>
          <a:ext cx="10287000" cy="1584840"/>
        </p:xfrm>
        <a:graphic>
          <a:graphicData uri="http://schemas.openxmlformats.org/drawingml/2006/table">
            <a:tbl>
              <a:tblPr>
                <a:noFill/>
                <a:tableStyleId>{F8595168-4C4C-43EB-BE5E-3DC3DE7DAA6C}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Shock Level (g-force)</a:t>
                      </a:r>
                      <a:endParaRPr lang="en-US" sz="11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Accident Detected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Buzzer/Alert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&lt;2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No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None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2–4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Possible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Buzzer ON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&gt;4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Yes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Buzzer + Telegram alert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700" cy="5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GPS &amp; Emergency Alert Performance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4" name="Google Shape;164;p21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aphicFrame>
        <p:nvGraphicFramePr>
          <p:cNvPr id="167" name="Google Shape;167;p21"/>
          <p:cNvGraphicFramePr/>
          <p:nvPr/>
        </p:nvGraphicFramePr>
        <p:xfrm>
          <a:off x="952500" y="2667000"/>
          <a:ext cx="10287000" cy="1584840"/>
        </p:xfrm>
        <a:graphic>
          <a:graphicData uri="http://schemas.openxmlformats.org/drawingml/2006/table">
            <a:tbl>
              <a:tblPr>
                <a:noFill/>
                <a:tableStyleId>{F8595168-4C4C-43EB-BE5E-3DC3DE7DAA6C}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Scenario</a:t>
                      </a:r>
                      <a:endParaRPr lang="en-US" sz="11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Location Accuracy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Alert Delay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Normal Ride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±5 meters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None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Accident (Urban Area)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±8 meters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2–3 seconds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Accident (Remote Area)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±10 meters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3–5 seconds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Conclusion 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8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ctr">
              <a:spcBef>
                <a:spcPts val="1200"/>
              </a:spcBef>
              <a:buNone/>
            </a:pPr>
            <a:endParaRPr lang="en-US" dirty="0" smtClean="0"/>
          </a:p>
          <a:p>
            <a:pPr marL="228600" lvl="0" indent="0" algn="l">
              <a:spcBef>
                <a:spcPts val="1200"/>
              </a:spcBef>
              <a:buNone/>
            </a:pP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Smart Helmet system successfully integrates alcohol detection, accident sensing, GPS tracking, and automated emergency alerts into a single </a:t>
            </a:r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IoT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-based safety device. By continuously monitoring rider conditions and vehicle status, the system ensures real-time response during critical situations. The ignition control mechanism effectively prevents drunk driving, while the accident detection and location-sharing features significantly reduce the delay in receiving help, thereby minimizing the risk of severe injuries and fatalities.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4" name="Google Shape;174;p22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 dirty="0" smtClean="0">
                <a:latin typeface="Times New Roman" panose="02020603050405020304" charset="0"/>
                <a:cs typeface="Times New Roman" panose="02020603050405020304" charset="0"/>
              </a:rPr>
              <a:t>Project 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Plan</a:t>
            </a:r>
            <a:r>
              <a:rPr lang="en-US" b="1" dirty="0"/>
              <a:t> </a:t>
            </a:r>
            <a:endParaRPr dirty="0"/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700" cy="5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Work Done So Far: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Sensor integration (MQ3, MPU6050, GPS) with ESP32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Accident detection algorithm and ignition control implemented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Telegram-based real-time alert system tested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System tested for alcohol detection, shock response, and GPS tracking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Next Steps / Future Plan:</a:t>
            </a:r>
            <a:endParaRPr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Miniaturization of electronics for helmet integration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Testing in real-world riding conditions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Adding extra features like speed monitoring and automatic braking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Deploying in fleets or public safety programs for wider use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83" name="Google Shape;183;p23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85" name="Google Shape;18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Conclusion and Project Plan 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1" name="Google Shape;191;p24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700" cy="5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Work Done So Far(Image</a:t>
            </a:r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2" name="Google Shape;192;p24" descr="Hom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194" name="Google Shape;19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5399997">
            <a:off x="3760706" y="-151310"/>
            <a:ext cx="4619687" cy="876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r>
              <a:rPr lang="en-US" b="1"/>
              <a:t> </a:t>
            </a:r>
            <a:endParaRPr lang="en-US" b="1"/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139700" y="1127124"/>
            <a:ext cx="11861700" cy="5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Development Tools:</a:t>
            </a:r>
            <a:endParaRPr sz="711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Arduino IDE – https://www.arduino.cc/en/software</a:t>
            </a:r>
            <a:endParaRPr sz="711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ESP32 Core for Arduino – https://docs.espressif.com/projects/arduino-esp32/en/latest/</a:t>
            </a:r>
            <a:endParaRPr sz="711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Libraries Used:</a:t>
            </a:r>
            <a:endParaRPr sz="711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Wire.h</a:t>
            </a: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 – I2C communication: https://www.arduino.cc/en/Reference/Wire</a:t>
            </a:r>
            <a:endParaRPr sz="711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MPU6050 &amp; I2Cdev</a:t>
            </a: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 – Sensor interfacing: </a:t>
            </a:r>
            <a:r>
              <a:rPr lang="en-US" sz="7110" u="sng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hlinkClick r:id="rId1"/>
              </a:rPr>
              <a:t>https://github.com/jrowberg/i2cdevlib</a:t>
            </a:r>
            <a:endParaRPr sz="7110" u="sng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TinyGPSPlus</a:t>
            </a: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 – GPS parsing: </a:t>
            </a:r>
            <a:r>
              <a:rPr lang="en-US" sz="7110" u="sng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hlinkClick r:id="rId2"/>
              </a:rPr>
              <a:t>https://github.com/mikalhart/TinyGPSPlus</a:t>
            </a:r>
            <a:endParaRPr sz="7110" u="sng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WiFi.h</a:t>
            </a: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 – ESP32 Wi-Fi: https://www.arduino.cc/reference/en/libraries/wifi/</a:t>
            </a:r>
            <a:endParaRPr sz="711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UniversalTelegramBot</a:t>
            </a: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 – Telegram Bot API: </a:t>
            </a:r>
            <a:r>
              <a:rPr lang="en-US" sz="7110" u="sng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hlinkClick r:id="rId3"/>
              </a:rPr>
              <a:t>https://github.com/witnessmenow/Universal-Arduino-Telegram-Bot</a:t>
            </a:r>
            <a:endParaRPr sz="7110" u="sng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7110" b="1">
                <a:latin typeface="Times New Roman" panose="02020603050405020304" charset="0"/>
                <a:cs typeface="Times New Roman" panose="02020603050405020304" charset="0"/>
              </a:rPr>
              <a:t>Additional References / Learning Material:</a:t>
            </a:r>
            <a:endParaRPr sz="711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ESP32 Projects &amp; IoT tutorials – https://randomnerdtutorials.com/</a:t>
            </a:r>
            <a:endParaRPr sz="711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MPU6050 Sensor Documentation – https://www.invensense.com/products/motion-tracking/6-axis/mpu-6050/</a:t>
            </a:r>
            <a:endParaRPr sz="711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416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110">
                <a:latin typeface="Times New Roman" panose="02020603050405020304" charset="0"/>
                <a:cs typeface="Times New Roman" panose="02020603050405020304" charset="0"/>
              </a:rPr>
              <a:t>NEO-6M GPS Module – https://www.u-blox.com/en/product/neo-6-series</a:t>
            </a:r>
            <a:endParaRPr sz="711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2" name="Google Shape;202;p25" descr="Home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282506" y="25400"/>
            <a:ext cx="831388" cy="8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Pilot Project Review</a:t>
            </a:r>
            <a:endParaRPr lang="en-US"/>
          </a:p>
        </p:txBody>
      </p:sp>
      <p:sp>
        <p:nvSpPr>
          <p:cNvPr id="204" name="Google Shape;20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5462</Words>
  <Application>WPS Presentation</Application>
  <PresentationFormat>Widescreen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Play</vt:lpstr>
      <vt:lpstr>Microsoft YaHei</vt:lpstr>
      <vt:lpstr>Arial Unicode MS</vt:lpstr>
      <vt:lpstr>Times New Roman</vt:lpstr>
      <vt:lpstr>Adobe Thai</vt:lpstr>
      <vt:lpstr>Office Theme</vt:lpstr>
      <vt:lpstr>Smart Helmet for Accident Detection and Safety</vt:lpstr>
      <vt:lpstr>Problem Statement </vt:lpstr>
      <vt:lpstr>Literature Survey (1.0)</vt:lpstr>
      <vt:lpstr>Literature Survey (1.1 )</vt:lpstr>
      <vt:lpstr>Methodology </vt:lpstr>
      <vt:lpstr>Block diagram Image </vt:lpstr>
      <vt:lpstr>Results</vt:lpstr>
      <vt:lpstr>Results</vt:lpstr>
      <vt:lpstr>Results</vt:lpstr>
      <vt:lpstr>Conclusion </vt:lpstr>
      <vt:lpstr>Project Plan </vt:lpstr>
      <vt:lpstr>Conclusion and Project Plan </vt:lpstr>
      <vt:lpstr>References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Helmet for Accident Detection and Safety</dc:title>
  <dc:creator>nani kaku</dc:creator>
  <cp:lastModifiedBy>Shalini S</cp:lastModifiedBy>
  <cp:revision>8</cp:revision>
  <dcterms:created xsi:type="dcterms:W3CDTF">2025-11-30T04:06:26Z</dcterms:created>
  <dcterms:modified xsi:type="dcterms:W3CDTF">2025-11-30T04:10:11Z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6C67897FFFD44CEEB87DB54928F53416_12</vt:lpwstr>
  </property>
  <property fmtid="{D5CDD505-2E9C-101B-9397-08002B2CF9AE}" pid="3" name="KSOProductBuildVer">
    <vt:lpwstr>1033-12.2.0.23155</vt:lpwstr>
  </property>
</Properties>
</file>